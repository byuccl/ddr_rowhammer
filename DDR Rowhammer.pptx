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Mono-bold.fntdata"/><Relationship Id="rId10" Type="http://schemas.openxmlformats.org/officeDocument/2006/relationships/slide" Target="slides/slide5.xml"/><Relationship Id="rId21" Type="http://schemas.openxmlformats.org/officeDocument/2006/relationships/font" Target="fonts/RobotoMono-regular.fntdata"/><Relationship Id="rId13" Type="http://schemas.openxmlformats.org/officeDocument/2006/relationships/slide" Target="slides/slide8.xml"/><Relationship Id="rId24" Type="http://schemas.openxmlformats.org/officeDocument/2006/relationships/font" Target="fonts/RobotoMon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270848b8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270848b8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270ea038f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270ea038f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270848b82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270848b82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270848b82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270848b82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270848b82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270848b82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270848b82e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270848b82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270848b82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270848b82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270848b82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270848b82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270848b82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270848b82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270848b82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270848b82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270848b82e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270848b82e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29421079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29421079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270848b82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270848b82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270848b82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270848b82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208102" y="621200"/>
            <a:ext cx="6727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DDR Rowhammer Project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78050" y="2851500"/>
            <a:ext cx="81879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Rami Arafeh, Tyler Ricks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Prof. Mike Wirthlin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Goals of the Project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DRAM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Rowhammer Attacks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Progress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Ethical Question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of the project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Develop and verify DDR controllers for FPGAs that provide both reliability and </a:t>
            </a:r>
            <a:r>
              <a:rPr b="1" lang="en">
                <a:solidFill>
                  <a:schemeClr val="dk1"/>
                </a:solidFill>
              </a:rPr>
              <a:t>security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Understand and quantify how the data in the DDR itself fails rather how the FPGA controller fails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DRAM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Each bit is stored in a cell using a capacitor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Lose state over time -&gt; Dynamic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Data stored refreshed at regular interval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7875" y="2312269"/>
            <a:ext cx="4534150" cy="19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591200" y="4800600"/>
            <a:ext cx="5356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/>
              <a:t>https://www.electronics-notes.com/articles/electronic_components/semiconductor-ic-memory/dynamic-ram-how-does-dram-work-operation.php</a:t>
            </a:r>
            <a:endParaRPr sz="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DRAM Organization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19300"/>
            <a:ext cx="2788374" cy="222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2500" y="2119300"/>
            <a:ext cx="4987724" cy="20361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55225" y="4568875"/>
            <a:ext cx="7626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/>
              <a:t>https://apt.cs.manchester.ac.uk/projects/ARMOR/RowHammer/index.html</a:t>
            </a:r>
            <a:endParaRPr sz="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Rowhammer Attacks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" name="Google Shape;90;p18"/>
          <p:cNvGrpSpPr/>
          <p:nvPr/>
        </p:nvGrpSpPr>
        <p:grpSpPr>
          <a:xfrm>
            <a:off x="2467682" y="2222287"/>
            <a:ext cx="3995766" cy="406515"/>
            <a:chOff x="3166825" y="1635624"/>
            <a:chExt cx="3015900" cy="317095"/>
          </a:xfrm>
        </p:grpSpPr>
        <p:sp>
          <p:nvSpPr>
            <p:cNvPr id="91" name="Google Shape;91;p18"/>
            <p:cNvSpPr/>
            <p:nvPr/>
          </p:nvSpPr>
          <p:spPr>
            <a:xfrm>
              <a:off x="3166825" y="1641618"/>
              <a:ext cx="3015900" cy="311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8"/>
            <p:cNvSpPr txBox="1"/>
            <p:nvPr/>
          </p:nvSpPr>
          <p:spPr>
            <a:xfrm>
              <a:off x="3568325" y="1635624"/>
              <a:ext cx="22134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Row</a:t>
              </a:r>
              <a:endParaRPr sz="900"/>
            </a:p>
          </p:txBody>
        </p:sp>
      </p:grpSp>
      <p:grpSp>
        <p:nvGrpSpPr>
          <p:cNvPr id="93" name="Google Shape;93;p18"/>
          <p:cNvGrpSpPr/>
          <p:nvPr/>
        </p:nvGrpSpPr>
        <p:grpSpPr>
          <a:xfrm>
            <a:off x="2467886" y="1860993"/>
            <a:ext cx="3996179" cy="427496"/>
            <a:chOff x="2335275" y="1948339"/>
            <a:chExt cx="3021000" cy="215461"/>
          </a:xfrm>
        </p:grpSpPr>
        <p:sp>
          <p:nvSpPr>
            <p:cNvPr id="94" name="Google Shape;94;p18"/>
            <p:cNvSpPr/>
            <p:nvPr/>
          </p:nvSpPr>
          <p:spPr>
            <a:xfrm>
              <a:off x="2335275" y="1962800"/>
              <a:ext cx="3021000" cy="201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8"/>
            <p:cNvSpPr txBox="1"/>
            <p:nvPr/>
          </p:nvSpPr>
          <p:spPr>
            <a:xfrm>
              <a:off x="2736956" y="1948339"/>
              <a:ext cx="2217000" cy="16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Row</a:t>
              </a:r>
              <a:endParaRPr sz="900"/>
            </a:p>
          </p:txBody>
        </p:sp>
      </p:grpSp>
      <p:grpSp>
        <p:nvGrpSpPr>
          <p:cNvPr id="96" name="Google Shape;96;p18"/>
          <p:cNvGrpSpPr/>
          <p:nvPr/>
        </p:nvGrpSpPr>
        <p:grpSpPr>
          <a:xfrm>
            <a:off x="2467886" y="2620561"/>
            <a:ext cx="3996179" cy="406906"/>
            <a:chOff x="2335275" y="2331167"/>
            <a:chExt cx="3021000" cy="205083"/>
          </a:xfrm>
        </p:grpSpPr>
        <p:sp>
          <p:nvSpPr>
            <p:cNvPr id="97" name="Google Shape;97;p18"/>
            <p:cNvSpPr/>
            <p:nvPr/>
          </p:nvSpPr>
          <p:spPr>
            <a:xfrm>
              <a:off x="2335275" y="2335250"/>
              <a:ext cx="3021000" cy="201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8"/>
            <p:cNvSpPr txBox="1"/>
            <p:nvPr/>
          </p:nvSpPr>
          <p:spPr>
            <a:xfrm>
              <a:off x="2736956" y="2331167"/>
              <a:ext cx="2217000" cy="16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Row</a:t>
              </a:r>
              <a:endParaRPr sz="900"/>
            </a:p>
          </p:txBody>
        </p:sp>
      </p:grpSp>
      <p:grpSp>
        <p:nvGrpSpPr>
          <p:cNvPr id="99" name="Google Shape;99;p18"/>
          <p:cNvGrpSpPr/>
          <p:nvPr/>
        </p:nvGrpSpPr>
        <p:grpSpPr>
          <a:xfrm>
            <a:off x="2467886" y="3027467"/>
            <a:ext cx="3996179" cy="398804"/>
            <a:chOff x="2335275" y="2536250"/>
            <a:chExt cx="3021000" cy="201000"/>
          </a:xfrm>
        </p:grpSpPr>
        <p:sp>
          <p:nvSpPr>
            <p:cNvPr id="100" name="Google Shape;100;p18"/>
            <p:cNvSpPr/>
            <p:nvPr/>
          </p:nvSpPr>
          <p:spPr>
            <a:xfrm>
              <a:off x="2335275" y="2536250"/>
              <a:ext cx="3021000" cy="201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8"/>
            <p:cNvSpPr txBox="1"/>
            <p:nvPr/>
          </p:nvSpPr>
          <p:spPr>
            <a:xfrm>
              <a:off x="2737275" y="2555299"/>
              <a:ext cx="2217000" cy="16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Row</a:t>
              </a:r>
              <a:endParaRPr sz="900"/>
            </a:p>
          </p:txBody>
        </p:sp>
      </p:grpSp>
      <p:grpSp>
        <p:nvGrpSpPr>
          <p:cNvPr id="102" name="Google Shape;102;p18"/>
          <p:cNvGrpSpPr/>
          <p:nvPr/>
        </p:nvGrpSpPr>
        <p:grpSpPr>
          <a:xfrm>
            <a:off x="2467886" y="3426271"/>
            <a:ext cx="3996179" cy="398804"/>
            <a:chOff x="2335275" y="2737250"/>
            <a:chExt cx="3021000" cy="201000"/>
          </a:xfrm>
        </p:grpSpPr>
        <p:sp>
          <p:nvSpPr>
            <p:cNvPr id="103" name="Google Shape;103;p18"/>
            <p:cNvSpPr/>
            <p:nvPr/>
          </p:nvSpPr>
          <p:spPr>
            <a:xfrm>
              <a:off x="2335275" y="2737250"/>
              <a:ext cx="3021000" cy="201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8"/>
            <p:cNvSpPr txBox="1"/>
            <p:nvPr/>
          </p:nvSpPr>
          <p:spPr>
            <a:xfrm>
              <a:off x="2737275" y="2756299"/>
              <a:ext cx="2217000" cy="16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Row</a:t>
              </a:r>
              <a:endParaRPr sz="900"/>
            </a:p>
          </p:txBody>
        </p:sp>
      </p:grpSp>
      <p:sp>
        <p:nvSpPr>
          <p:cNvPr id="105" name="Google Shape;105;p18"/>
          <p:cNvSpPr txBox="1"/>
          <p:nvPr/>
        </p:nvSpPr>
        <p:spPr>
          <a:xfrm>
            <a:off x="236300" y="656250"/>
            <a:ext cx="63474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Predictably induce bit flips in DRAM chips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9"/>
          <p:cNvGrpSpPr/>
          <p:nvPr/>
        </p:nvGrpSpPr>
        <p:grpSpPr>
          <a:xfrm>
            <a:off x="2467682" y="2222287"/>
            <a:ext cx="3995766" cy="406515"/>
            <a:chOff x="3166825" y="1635624"/>
            <a:chExt cx="3015900" cy="317095"/>
          </a:xfrm>
        </p:grpSpPr>
        <p:sp>
          <p:nvSpPr>
            <p:cNvPr id="111" name="Google Shape;111;p19"/>
            <p:cNvSpPr/>
            <p:nvPr/>
          </p:nvSpPr>
          <p:spPr>
            <a:xfrm>
              <a:off x="3166825" y="1641618"/>
              <a:ext cx="3015900" cy="3111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9"/>
            <p:cNvSpPr txBox="1"/>
            <p:nvPr/>
          </p:nvSpPr>
          <p:spPr>
            <a:xfrm>
              <a:off x="3568325" y="1635624"/>
              <a:ext cx="2213400" cy="252000"/>
            </a:xfrm>
            <a:prstGeom prst="rect">
              <a:avLst/>
            </a:prstGeom>
            <a:solidFill>
              <a:srgbClr val="F6B2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Row</a:t>
              </a:r>
              <a:endParaRPr sz="900"/>
            </a:p>
          </p:txBody>
        </p:sp>
      </p:grpSp>
      <p:grpSp>
        <p:nvGrpSpPr>
          <p:cNvPr id="113" name="Google Shape;113;p19"/>
          <p:cNvGrpSpPr/>
          <p:nvPr/>
        </p:nvGrpSpPr>
        <p:grpSpPr>
          <a:xfrm>
            <a:off x="2467886" y="1860993"/>
            <a:ext cx="3996179" cy="427496"/>
            <a:chOff x="2335275" y="1948339"/>
            <a:chExt cx="3021000" cy="215461"/>
          </a:xfrm>
        </p:grpSpPr>
        <p:sp>
          <p:nvSpPr>
            <p:cNvPr id="114" name="Google Shape;114;p19"/>
            <p:cNvSpPr/>
            <p:nvPr/>
          </p:nvSpPr>
          <p:spPr>
            <a:xfrm>
              <a:off x="2335275" y="1962800"/>
              <a:ext cx="3021000" cy="201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9"/>
            <p:cNvSpPr txBox="1"/>
            <p:nvPr/>
          </p:nvSpPr>
          <p:spPr>
            <a:xfrm>
              <a:off x="2736956" y="1948339"/>
              <a:ext cx="2217000" cy="16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Row</a:t>
              </a:r>
              <a:endParaRPr sz="900"/>
            </a:p>
          </p:txBody>
        </p:sp>
      </p:grpSp>
      <p:grpSp>
        <p:nvGrpSpPr>
          <p:cNvPr id="116" name="Google Shape;116;p19"/>
          <p:cNvGrpSpPr/>
          <p:nvPr/>
        </p:nvGrpSpPr>
        <p:grpSpPr>
          <a:xfrm>
            <a:off x="2467886" y="2620561"/>
            <a:ext cx="3996179" cy="406906"/>
            <a:chOff x="2335275" y="2331167"/>
            <a:chExt cx="3021000" cy="205083"/>
          </a:xfrm>
        </p:grpSpPr>
        <p:sp>
          <p:nvSpPr>
            <p:cNvPr id="117" name="Google Shape;117;p19"/>
            <p:cNvSpPr/>
            <p:nvPr/>
          </p:nvSpPr>
          <p:spPr>
            <a:xfrm>
              <a:off x="2335275" y="2335250"/>
              <a:ext cx="3021000" cy="2010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9"/>
            <p:cNvSpPr txBox="1"/>
            <p:nvPr/>
          </p:nvSpPr>
          <p:spPr>
            <a:xfrm>
              <a:off x="2736956" y="2331167"/>
              <a:ext cx="2217000" cy="1629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Row</a:t>
              </a:r>
              <a:endParaRPr sz="900"/>
            </a:p>
          </p:txBody>
        </p:sp>
      </p:grpSp>
      <p:grpSp>
        <p:nvGrpSpPr>
          <p:cNvPr id="119" name="Google Shape;119;p19"/>
          <p:cNvGrpSpPr/>
          <p:nvPr/>
        </p:nvGrpSpPr>
        <p:grpSpPr>
          <a:xfrm>
            <a:off x="2467886" y="3027467"/>
            <a:ext cx="3996179" cy="398804"/>
            <a:chOff x="2335275" y="2536250"/>
            <a:chExt cx="3021000" cy="201000"/>
          </a:xfrm>
        </p:grpSpPr>
        <p:sp>
          <p:nvSpPr>
            <p:cNvPr id="120" name="Google Shape;120;p19"/>
            <p:cNvSpPr/>
            <p:nvPr/>
          </p:nvSpPr>
          <p:spPr>
            <a:xfrm>
              <a:off x="2335275" y="2536250"/>
              <a:ext cx="3021000" cy="2010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9"/>
            <p:cNvSpPr txBox="1"/>
            <p:nvPr/>
          </p:nvSpPr>
          <p:spPr>
            <a:xfrm>
              <a:off x="2737275" y="2555299"/>
              <a:ext cx="2217000" cy="162900"/>
            </a:xfrm>
            <a:prstGeom prst="rect">
              <a:avLst/>
            </a:prstGeom>
            <a:solidFill>
              <a:srgbClr val="F6B2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Row</a:t>
              </a:r>
              <a:endParaRPr sz="900"/>
            </a:p>
          </p:txBody>
        </p:sp>
      </p:grpSp>
      <p:grpSp>
        <p:nvGrpSpPr>
          <p:cNvPr id="122" name="Google Shape;122;p19"/>
          <p:cNvGrpSpPr/>
          <p:nvPr/>
        </p:nvGrpSpPr>
        <p:grpSpPr>
          <a:xfrm>
            <a:off x="2467886" y="3426271"/>
            <a:ext cx="3996179" cy="398804"/>
            <a:chOff x="2335275" y="2737250"/>
            <a:chExt cx="3021000" cy="201000"/>
          </a:xfrm>
        </p:grpSpPr>
        <p:sp>
          <p:nvSpPr>
            <p:cNvPr id="123" name="Google Shape;123;p19"/>
            <p:cNvSpPr/>
            <p:nvPr/>
          </p:nvSpPr>
          <p:spPr>
            <a:xfrm>
              <a:off x="2335275" y="2737250"/>
              <a:ext cx="3021000" cy="201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9"/>
            <p:cNvSpPr txBox="1"/>
            <p:nvPr/>
          </p:nvSpPr>
          <p:spPr>
            <a:xfrm>
              <a:off x="2737275" y="2756299"/>
              <a:ext cx="2217000" cy="16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Row</a:t>
              </a:r>
              <a:endParaRPr sz="900"/>
            </a:p>
          </p:txBody>
        </p:sp>
      </p:grpSp>
      <p:sp>
        <p:nvSpPr>
          <p:cNvPr id="125" name="Google Shape;125;p19"/>
          <p:cNvSpPr txBox="1"/>
          <p:nvPr/>
        </p:nvSpPr>
        <p:spPr>
          <a:xfrm>
            <a:off x="0" y="0"/>
            <a:ext cx="6135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Rowhammer Attacks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236300" y="656250"/>
            <a:ext cx="63474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Predictably induce bit flips in DRAM chips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311700" y="211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20"/>
              <a:t>Single-Sided Rowhammer</a:t>
            </a:r>
            <a:endParaRPr sz="1820"/>
          </a:p>
        </p:txBody>
      </p:sp>
      <p:grpSp>
        <p:nvGrpSpPr>
          <p:cNvPr id="132" name="Google Shape;132;p20"/>
          <p:cNvGrpSpPr/>
          <p:nvPr/>
        </p:nvGrpSpPr>
        <p:grpSpPr>
          <a:xfrm>
            <a:off x="2467682" y="2222287"/>
            <a:ext cx="3995766" cy="406515"/>
            <a:chOff x="3166825" y="1635624"/>
            <a:chExt cx="3015900" cy="317095"/>
          </a:xfrm>
        </p:grpSpPr>
        <p:sp>
          <p:nvSpPr>
            <p:cNvPr id="133" name="Google Shape;133;p20"/>
            <p:cNvSpPr/>
            <p:nvPr/>
          </p:nvSpPr>
          <p:spPr>
            <a:xfrm>
              <a:off x="3166825" y="1641618"/>
              <a:ext cx="3015900" cy="3111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0"/>
            <p:cNvSpPr txBox="1"/>
            <p:nvPr/>
          </p:nvSpPr>
          <p:spPr>
            <a:xfrm>
              <a:off x="3568325" y="1635624"/>
              <a:ext cx="2213400" cy="252000"/>
            </a:xfrm>
            <a:prstGeom prst="rect">
              <a:avLst/>
            </a:prstGeom>
            <a:solidFill>
              <a:srgbClr val="F6B2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Victim </a:t>
              </a:r>
              <a:r>
                <a:rPr lang="en" sz="900"/>
                <a:t>Row</a:t>
              </a:r>
              <a:endParaRPr sz="900"/>
            </a:p>
          </p:txBody>
        </p:sp>
      </p:grpSp>
      <p:grpSp>
        <p:nvGrpSpPr>
          <p:cNvPr id="135" name="Google Shape;135;p20"/>
          <p:cNvGrpSpPr/>
          <p:nvPr/>
        </p:nvGrpSpPr>
        <p:grpSpPr>
          <a:xfrm>
            <a:off x="2467886" y="1860993"/>
            <a:ext cx="3996179" cy="427496"/>
            <a:chOff x="2335275" y="1948339"/>
            <a:chExt cx="3021000" cy="215461"/>
          </a:xfrm>
        </p:grpSpPr>
        <p:sp>
          <p:nvSpPr>
            <p:cNvPr id="136" name="Google Shape;136;p20"/>
            <p:cNvSpPr/>
            <p:nvPr/>
          </p:nvSpPr>
          <p:spPr>
            <a:xfrm>
              <a:off x="2335275" y="1962800"/>
              <a:ext cx="3021000" cy="201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0"/>
            <p:cNvSpPr txBox="1"/>
            <p:nvPr/>
          </p:nvSpPr>
          <p:spPr>
            <a:xfrm>
              <a:off x="2736956" y="1948339"/>
              <a:ext cx="2217000" cy="16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Row</a:t>
              </a:r>
              <a:endParaRPr sz="900"/>
            </a:p>
          </p:txBody>
        </p:sp>
      </p:grpSp>
      <p:grpSp>
        <p:nvGrpSpPr>
          <p:cNvPr id="138" name="Google Shape;138;p20"/>
          <p:cNvGrpSpPr/>
          <p:nvPr/>
        </p:nvGrpSpPr>
        <p:grpSpPr>
          <a:xfrm>
            <a:off x="2467886" y="2620561"/>
            <a:ext cx="3996179" cy="406906"/>
            <a:chOff x="2335275" y="2331167"/>
            <a:chExt cx="3021000" cy="205083"/>
          </a:xfrm>
        </p:grpSpPr>
        <p:sp>
          <p:nvSpPr>
            <p:cNvPr id="139" name="Google Shape;139;p20"/>
            <p:cNvSpPr/>
            <p:nvPr/>
          </p:nvSpPr>
          <p:spPr>
            <a:xfrm>
              <a:off x="2335275" y="2335250"/>
              <a:ext cx="3021000" cy="2010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0"/>
            <p:cNvSpPr txBox="1"/>
            <p:nvPr/>
          </p:nvSpPr>
          <p:spPr>
            <a:xfrm>
              <a:off x="2736956" y="2331167"/>
              <a:ext cx="2217000" cy="1629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Hammered </a:t>
              </a:r>
              <a:r>
                <a:rPr lang="en" sz="900"/>
                <a:t>Row</a:t>
              </a:r>
              <a:endParaRPr sz="900"/>
            </a:p>
          </p:txBody>
        </p:sp>
      </p:grpSp>
      <p:grpSp>
        <p:nvGrpSpPr>
          <p:cNvPr id="141" name="Google Shape;141;p20"/>
          <p:cNvGrpSpPr/>
          <p:nvPr/>
        </p:nvGrpSpPr>
        <p:grpSpPr>
          <a:xfrm>
            <a:off x="2467886" y="3027467"/>
            <a:ext cx="3996179" cy="398804"/>
            <a:chOff x="2335275" y="2536250"/>
            <a:chExt cx="3021000" cy="201000"/>
          </a:xfrm>
        </p:grpSpPr>
        <p:sp>
          <p:nvSpPr>
            <p:cNvPr id="142" name="Google Shape;142;p20"/>
            <p:cNvSpPr/>
            <p:nvPr/>
          </p:nvSpPr>
          <p:spPr>
            <a:xfrm>
              <a:off x="2335275" y="2536250"/>
              <a:ext cx="3021000" cy="2010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0"/>
            <p:cNvSpPr txBox="1"/>
            <p:nvPr/>
          </p:nvSpPr>
          <p:spPr>
            <a:xfrm>
              <a:off x="2737275" y="2555299"/>
              <a:ext cx="2217000" cy="162900"/>
            </a:xfrm>
            <a:prstGeom prst="rect">
              <a:avLst/>
            </a:prstGeom>
            <a:solidFill>
              <a:srgbClr val="F6B2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Victim </a:t>
              </a:r>
              <a:r>
                <a:rPr lang="en" sz="900"/>
                <a:t>Row</a:t>
              </a:r>
              <a:endParaRPr sz="900"/>
            </a:p>
          </p:txBody>
        </p:sp>
      </p:grpSp>
      <p:grpSp>
        <p:nvGrpSpPr>
          <p:cNvPr id="144" name="Google Shape;144;p20"/>
          <p:cNvGrpSpPr/>
          <p:nvPr/>
        </p:nvGrpSpPr>
        <p:grpSpPr>
          <a:xfrm>
            <a:off x="2467886" y="3426271"/>
            <a:ext cx="3996179" cy="398804"/>
            <a:chOff x="2335275" y="2737250"/>
            <a:chExt cx="3021000" cy="201000"/>
          </a:xfrm>
        </p:grpSpPr>
        <p:sp>
          <p:nvSpPr>
            <p:cNvPr id="145" name="Google Shape;145;p20"/>
            <p:cNvSpPr/>
            <p:nvPr/>
          </p:nvSpPr>
          <p:spPr>
            <a:xfrm>
              <a:off x="2335275" y="2737250"/>
              <a:ext cx="3021000" cy="201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0"/>
            <p:cNvSpPr txBox="1"/>
            <p:nvPr/>
          </p:nvSpPr>
          <p:spPr>
            <a:xfrm>
              <a:off x="2737275" y="2756299"/>
              <a:ext cx="2217000" cy="16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Row</a:t>
              </a:r>
              <a:endParaRPr sz="90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idx="1" type="body"/>
          </p:nvPr>
        </p:nvSpPr>
        <p:spPr>
          <a:xfrm>
            <a:off x="530450" y="206525"/>
            <a:ext cx="8520600" cy="7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Double-Sided Rowhammer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52" name="Google Shape;152;p21"/>
          <p:cNvGrpSpPr/>
          <p:nvPr/>
        </p:nvGrpSpPr>
        <p:grpSpPr>
          <a:xfrm>
            <a:off x="2467682" y="2229972"/>
            <a:ext cx="3995766" cy="398830"/>
            <a:chOff x="3166825" y="1641618"/>
            <a:chExt cx="3015900" cy="311100"/>
          </a:xfrm>
        </p:grpSpPr>
        <p:sp>
          <p:nvSpPr>
            <p:cNvPr id="153" name="Google Shape;153;p21"/>
            <p:cNvSpPr/>
            <p:nvPr/>
          </p:nvSpPr>
          <p:spPr>
            <a:xfrm>
              <a:off x="3166825" y="1641618"/>
              <a:ext cx="3015900" cy="3111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1"/>
            <p:cNvSpPr txBox="1"/>
            <p:nvPr/>
          </p:nvSpPr>
          <p:spPr>
            <a:xfrm>
              <a:off x="3568080" y="1668170"/>
              <a:ext cx="2213400" cy="25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Hammered </a:t>
              </a:r>
              <a:r>
                <a:rPr lang="en" sz="900"/>
                <a:t>Row</a:t>
              </a:r>
              <a:endParaRPr sz="900"/>
            </a:p>
          </p:txBody>
        </p:sp>
      </p:grpSp>
      <p:grpSp>
        <p:nvGrpSpPr>
          <p:cNvPr id="155" name="Google Shape;155;p21"/>
          <p:cNvGrpSpPr/>
          <p:nvPr/>
        </p:nvGrpSpPr>
        <p:grpSpPr>
          <a:xfrm>
            <a:off x="2467886" y="1860993"/>
            <a:ext cx="3996179" cy="427496"/>
            <a:chOff x="2335275" y="1948339"/>
            <a:chExt cx="3021000" cy="215461"/>
          </a:xfrm>
        </p:grpSpPr>
        <p:sp>
          <p:nvSpPr>
            <p:cNvPr id="156" name="Google Shape;156;p21"/>
            <p:cNvSpPr/>
            <p:nvPr/>
          </p:nvSpPr>
          <p:spPr>
            <a:xfrm>
              <a:off x="2335275" y="1962800"/>
              <a:ext cx="3021000" cy="201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1"/>
            <p:cNvSpPr txBox="1"/>
            <p:nvPr/>
          </p:nvSpPr>
          <p:spPr>
            <a:xfrm>
              <a:off x="2736956" y="1948339"/>
              <a:ext cx="2217000" cy="16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Row</a:t>
              </a:r>
              <a:endParaRPr sz="900"/>
            </a:p>
          </p:txBody>
        </p:sp>
      </p:grpSp>
      <p:grpSp>
        <p:nvGrpSpPr>
          <p:cNvPr id="158" name="Google Shape;158;p21"/>
          <p:cNvGrpSpPr/>
          <p:nvPr/>
        </p:nvGrpSpPr>
        <p:grpSpPr>
          <a:xfrm>
            <a:off x="2467886" y="2620561"/>
            <a:ext cx="3996179" cy="406906"/>
            <a:chOff x="2335275" y="2331167"/>
            <a:chExt cx="3021000" cy="205083"/>
          </a:xfrm>
        </p:grpSpPr>
        <p:sp>
          <p:nvSpPr>
            <p:cNvPr id="159" name="Google Shape;159;p21"/>
            <p:cNvSpPr/>
            <p:nvPr/>
          </p:nvSpPr>
          <p:spPr>
            <a:xfrm>
              <a:off x="2335275" y="2335250"/>
              <a:ext cx="3021000" cy="2010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1"/>
            <p:cNvSpPr txBox="1"/>
            <p:nvPr/>
          </p:nvSpPr>
          <p:spPr>
            <a:xfrm>
              <a:off x="2736956" y="2331167"/>
              <a:ext cx="2217000" cy="162900"/>
            </a:xfrm>
            <a:prstGeom prst="rect">
              <a:avLst/>
            </a:prstGeom>
            <a:solidFill>
              <a:srgbClr val="F6B2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Victim </a:t>
              </a:r>
              <a:r>
                <a:rPr lang="en" sz="900"/>
                <a:t>Row</a:t>
              </a:r>
              <a:endParaRPr sz="900"/>
            </a:p>
          </p:txBody>
        </p:sp>
      </p:grpSp>
      <p:grpSp>
        <p:nvGrpSpPr>
          <p:cNvPr id="161" name="Google Shape;161;p21"/>
          <p:cNvGrpSpPr/>
          <p:nvPr/>
        </p:nvGrpSpPr>
        <p:grpSpPr>
          <a:xfrm>
            <a:off x="2467886" y="3027467"/>
            <a:ext cx="3996179" cy="398804"/>
            <a:chOff x="2335275" y="2536250"/>
            <a:chExt cx="3021000" cy="201000"/>
          </a:xfrm>
        </p:grpSpPr>
        <p:sp>
          <p:nvSpPr>
            <p:cNvPr id="162" name="Google Shape;162;p21"/>
            <p:cNvSpPr/>
            <p:nvPr/>
          </p:nvSpPr>
          <p:spPr>
            <a:xfrm>
              <a:off x="2335275" y="2536250"/>
              <a:ext cx="3021000" cy="2010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1"/>
            <p:cNvSpPr txBox="1"/>
            <p:nvPr/>
          </p:nvSpPr>
          <p:spPr>
            <a:xfrm>
              <a:off x="2737275" y="2555299"/>
              <a:ext cx="2217000" cy="1629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Hammered </a:t>
              </a:r>
              <a:r>
                <a:rPr lang="en" sz="900"/>
                <a:t>Row</a:t>
              </a:r>
              <a:endParaRPr sz="900"/>
            </a:p>
          </p:txBody>
        </p:sp>
      </p:grpSp>
      <p:grpSp>
        <p:nvGrpSpPr>
          <p:cNvPr id="164" name="Google Shape;164;p21"/>
          <p:cNvGrpSpPr/>
          <p:nvPr/>
        </p:nvGrpSpPr>
        <p:grpSpPr>
          <a:xfrm>
            <a:off x="2467886" y="3426271"/>
            <a:ext cx="3996179" cy="398804"/>
            <a:chOff x="2335275" y="2737250"/>
            <a:chExt cx="3021000" cy="201000"/>
          </a:xfrm>
        </p:grpSpPr>
        <p:sp>
          <p:nvSpPr>
            <p:cNvPr id="165" name="Google Shape;165;p21"/>
            <p:cNvSpPr/>
            <p:nvPr/>
          </p:nvSpPr>
          <p:spPr>
            <a:xfrm>
              <a:off x="2335275" y="2737250"/>
              <a:ext cx="3021000" cy="201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1"/>
            <p:cNvSpPr txBox="1"/>
            <p:nvPr/>
          </p:nvSpPr>
          <p:spPr>
            <a:xfrm>
              <a:off x="2737275" y="2756299"/>
              <a:ext cx="2217000" cy="16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Row</a:t>
              </a:r>
              <a:endParaRPr sz="90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/>
          <p:nvPr>
            <p:ph idx="1" type="body"/>
          </p:nvPr>
        </p:nvSpPr>
        <p:spPr>
          <a:xfrm>
            <a:off x="359675" y="0"/>
            <a:ext cx="8520600" cy="5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9144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DDR3 									DDR4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2" name="Google Shape;17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425" y="483075"/>
            <a:ext cx="3145999" cy="2088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4250" y="1345375"/>
            <a:ext cx="4059275" cy="245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7425" y="2623300"/>
            <a:ext cx="3145999" cy="252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2"/>
          <p:cNvSpPr txBox="1"/>
          <p:nvPr/>
        </p:nvSpPr>
        <p:spPr>
          <a:xfrm>
            <a:off x="4462175" y="4750200"/>
            <a:ext cx="4418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https://rowhammer-tester.readthedocs.io/en/latest/ddr4_datacenter_dram_tester.html</a:t>
            </a:r>
            <a:endParaRPr sz="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/>
          <p:nvPr>
            <p:ph idx="1" type="body"/>
          </p:nvPr>
        </p:nvSpPr>
        <p:spPr>
          <a:xfrm>
            <a:off x="311700" y="97400"/>
            <a:ext cx="8520600" cy="44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(venv) $python hw_rowhammer.py --nrows 512 --read_count 10e6 --pattern 01_in_row --row-pairs const --const-rows-pair 54 133 --no-refresh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D5D7E2"/>
              </a:solidFill>
              <a:highlight>
                <a:srgbClr val="21222C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181" name="Google Shape;18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9775" y="1767700"/>
            <a:ext cx="5007074" cy="22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3"/>
          <p:cNvSpPr txBox="1"/>
          <p:nvPr/>
        </p:nvSpPr>
        <p:spPr>
          <a:xfrm>
            <a:off x="0" y="4644425"/>
            <a:ext cx="6196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https://rowhammer-tester.readthedocs.io/en/latest/usage.html</a:t>
            </a:r>
            <a:endParaRPr sz="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Mitigations</a:t>
            </a:r>
            <a:endParaRPr/>
          </a:p>
        </p:txBody>
      </p:sp>
      <p:sp>
        <p:nvSpPr>
          <p:cNvPr id="188" name="Google Shape;18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ECC memory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TRR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2x refresh rate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525" y="880400"/>
            <a:ext cx="4393774" cy="3382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880400"/>
            <a:ext cx="4510275" cy="3382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Ethical Question</a:t>
            </a:r>
            <a:endParaRPr/>
          </a:p>
        </p:txBody>
      </p:sp>
      <p:pic>
        <p:nvPicPr>
          <p:cNvPr id="200" name="Google Shape;20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4413" y="1436625"/>
            <a:ext cx="4895174" cy="326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>
            <p:ph type="title"/>
          </p:nvPr>
        </p:nvSpPr>
        <p:spPr>
          <a:xfrm>
            <a:off x="311700" y="427300"/>
            <a:ext cx="8520600" cy="28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Questions? </a:t>
            </a:r>
            <a:endParaRPr sz="3300"/>
          </a:p>
        </p:txBody>
      </p:sp>
      <p:pic>
        <p:nvPicPr>
          <p:cNvPr id="206" name="Google Shape;20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7350" y="1245638"/>
            <a:ext cx="5829300" cy="326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